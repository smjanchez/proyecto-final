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 Vietnam" charset="1" panose="00000500000000000000"/>
      <p:regular r:id="rId13"/>
    </p:embeddedFont>
    <p:embeddedFont>
      <p:font typeface="Roca Two Bold" charset="1" panose="00000800000000000000"/>
      <p:regular r:id="rId14"/>
    </p:embeddedFont>
    <p:embeddedFont>
      <p:font typeface="Roca Two" charset="1" panose="00000500000000000000"/>
      <p:regular r:id="rId15"/>
    </p:embeddedFont>
    <p:embeddedFont>
      <p:font typeface="Be Vietnam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99053" y="0"/>
            <a:ext cx="7398256" cy="10287000"/>
            <a:chOff x="0" y="0"/>
            <a:chExt cx="1435503" cy="1996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5503" cy="1996013"/>
            </a:xfrm>
            <a:custGeom>
              <a:avLst/>
              <a:gdLst/>
              <a:ahLst/>
              <a:cxnLst/>
              <a:rect r="r" b="b" t="t" l="l"/>
              <a:pathLst>
                <a:path h="1996013" w="1435503">
                  <a:moveTo>
                    <a:pt x="28254" y="0"/>
                  </a:moveTo>
                  <a:lnTo>
                    <a:pt x="1407249" y="0"/>
                  </a:lnTo>
                  <a:cubicBezTo>
                    <a:pt x="1414742" y="0"/>
                    <a:pt x="1421929" y="2977"/>
                    <a:pt x="1427227" y="8275"/>
                  </a:cubicBezTo>
                  <a:cubicBezTo>
                    <a:pt x="1432526" y="13574"/>
                    <a:pt x="1435503" y="20761"/>
                    <a:pt x="1435503" y="28254"/>
                  </a:cubicBezTo>
                  <a:lnTo>
                    <a:pt x="1435503" y="1967759"/>
                  </a:lnTo>
                  <a:cubicBezTo>
                    <a:pt x="1435503" y="1975253"/>
                    <a:pt x="1432526" y="1982439"/>
                    <a:pt x="1427227" y="1987738"/>
                  </a:cubicBezTo>
                  <a:cubicBezTo>
                    <a:pt x="1421929" y="1993037"/>
                    <a:pt x="1414742" y="1996013"/>
                    <a:pt x="1407249" y="1996013"/>
                  </a:cubicBezTo>
                  <a:lnTo>
                    <a:pt x="28254" y="1996013"/>
                  </a:lnTo>
                  <a:cubicBezTo>
                    <a:pt x="20761" y="1996013"/>
                    <a:pt x="13574" y="1993037"/>
                    <a:pt x="8275" y="1987738"/>
                  </a:cubicBezTo>
                  <a:cubicBezTo>
                    <a:pt x="2977" y="1982439"/>
                    <a:pt x="0" y="1975253"/>
                    <a:pt x="0" y="1967759"/>
                  </a:cubicBezTo>
                  <a:lnTo>
                    <a:pt x="0" y="28254"/>
                  </a:lnTo>
                  <a:cubicBezTo>
                    <a:pt x="0" y="20761"/>
                    <a:pt x="2977" y="13574"/>
                    <a:pt x="8275" y="8275"/>
                  </a:cubicBezTo>
                  <a:cubicBezTo>
                    <a:pt x="13574" y="2977"/>
                    <a:pt x="20761" y="0"/>
                    <a:pt x="2825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938" r="0" b="-393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637413"/>
            <a:ext cx="83248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PRESENTADO POR SHIRLY JANCHEZ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324850" cy="47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2803">
                <a:solidFill>
                  <a:srgbClr val="0F3D66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PROYECTO FINAL EDVAI: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3948" y="2512950"/>
            <a:ext cx="6021646" cy="431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3"/>
              </a:lnSpc>
            </a:pPr>
            <a:r>
              <a:rPr lang="en-US" sz="6763" b="true">
                <a:solidFill>
                  <a:srgbClr val="0F3D66"/>
                </a:solidFill>
                <a:latin typeface="Roca Two Bold"/>
                <a:ea typeface="Roca Two Bold"/>
                <a:cs typeface="Roca Two Bold"/>
                <a:sym typeface="Roca Two Bold"/>
              </a:rPr>
              <a:t>Predicción de precios de propiedades -Properati AR</a:t>
            </a:r>
          </a:p>
          <a:p>
            <a:pPr algn="ctr" marL="0" indent="0" lvl="0">
              <a:lnSpc>
                <a:spcPts val="676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6327"/>
            <a:ext cx="13897234" cy="5367123"/>
            <a:chOff x="0" y="0"/>
            <a:chExt cx="18529646" cy="715616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4775"/>
              <a:ext cx="18529646" cy="3951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19"/>
                </a:lnSpc>
              </a:pPr>
              <a:r>
                <a:rPr lang="en-US" sz="5719">
                  <a:solidFill>
                    <a:srgbClr val="0F3D66"/>
                  </a:solidFill>
                  <a:latin typeface="Roca Two"/>
                  <a:ea typeface="Roca Two"/>
                  <a:cs typeface="Roca Two"/>
                  <a:sym typeface="Roca Two"/>
                </a:rPr>
                <a:t>Predicción de precios de propiedades en Argentina (Properati)</a:t>
              </a:r>
            </a:p>
            <a:p>
              <a:pPr algn="l">
                <a:lnSpc>
                  <a:spcPts val="5719"/>
                </a:lnSpc>
              </a:pPr>
            </a:p>
            <a:p>
              <a:pPr algn="l" marL="0" indent="0" lvl="0">
                <a:lnSpc>
                  <a:spcPts val="571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170151"/>
              <a:ext cx="18529646" cy="2986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1"/>
                </a:lnSpc>
              </a:pPr>
              <a:r>
                <a:rPr lang="en-US" sz="2565" spc="25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 objetivo del proyecto fue desarrollar un modelo predictivo capaz de estimar el precio de venta en USD de propiedades en Argentina, utilizando datos del portal Properati.</a:t>
              </a:r>
            </a:p>
            <a:p>
              <a:pPr algn="l" marL="0" indent="0" lvl="0">
                <a:lnSpc>
                  <a:spcPts val="3591"/>
                </a:lnSpc>
                <a:spcBef>
                  <a:spcPct val="0"/>
                </a:spcBef>
              </a:pPr>
              <a:r>
                <a:rPr lang="en-US" sz="2565" spc="25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Se buscó comprender las variables que más influyen en la valuación —como superficie, tipo de propiedad y ubicación— para ofrecer una herramienta que facilite la toma de decisiones en tasaciones e inversión inmobiliaria.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6834565"/>
            <a:ext cx="812930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1" b="true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Bullets: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Dataset original: +500.000 registros.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Filtro aplicado: Argentina · Venta · USD · CABA y GBA.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Variable objetivo: price_usd.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Herramientas: Python, Pandas, Scikit-learn, XGBoost, Matplotlib.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0067925" cy="2867025"/>
            <a:chOff x="0" y="0"/>
            <a:chExt cx="13423900" cy="38227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34239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</a:pPr>
              <a:r>
                <a:rPr lang="en-US" sz="8499">
                  <a:solidFill>
                    <a:srgbClr val="0F3D66"/>
                  </a:solidFill>
                  <a:latin typeface="Roca Two"/>
                  <a:ea typeface="Roca Two"/>
                  <a:cs typeface="Roca Two"/>
                  <a:sym typeface="Roca Two"/>
                </a:rPr>
                <a:t>Limpieza y Feature Engineering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0420"/>
              <a:ext cx="134239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Preparación y transfromación de datos.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3627822"/>
            <a:ext cx="17621250" cy="464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Se realizó un exhaustivo proceso de limpieza y enriquecimiento de datos para garantizar la calidad del modelo.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 El análisis exploratorio permitió identificar inconsistencias, duplicados y outliers, además de crear nuevas variables derivadas con alto poder predictivo.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Puntos clave: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Filtros: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 country_name = Argentina, operation_type = Venta, currency = USD, zonas = CABA + GBA.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Tratamiento de nulos: imputación por mediana (numéricas) y moda (categóricas).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Outliers: límites razonables de superficie (20–800 m²) y precio (&lt; 3M USD).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Nuevas variables: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surface_ratio = surface_covered / surface_total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rooms_per_bath = rooms / bathrooms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19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Codificación: One Hot Encoding en state_name, place_name, property_type.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011059" y="2705196"/>
            <a:ext cx="12592050" cy="19050"/>
          </a:xfrm>
          <a:prstGeom prst="line">
            <a:avLst/>
          </a:prstGeom>
          <a:ln cap="flat" w="28575">
            <a:solidFill>
              <a:srgbClr val="0F3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2883501"/>
            <a:ext cx="5754624" cy="4315968"/>
          </a:xfrm>
          <a:custGeom>
            <a:avLst/>
            <a:gdLst/>
            <a:ahLst/>
            <a:cxnLst/>
            <a:rect r="r" b="b" t="t" l="l"/>
            <a:pathLst>
              <a:path h="4315968" w="5754624">
                <a:moveTo>
                  <a:pt x="0" y="0"/>
                </a:moveTo>
                <a:lnTo>
                  <a:pt x="5754624" y="0"/>
                </a:lnTo>
                <a:lnTo>
                  <a:pt x="5754624" y="4315968"/>
                </a:lnTo>
                <a:lnTo>
                  <a:pt x="0" y="43159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19635" y="6916491"/>
            <a:ext cx="4660910" cy="2913069"/>
          </a:xfrm>
          <a:custGeom>
            <a:avLst/>
            <a:gdLst/>
            <a:ahLst/>
            <a:cxnLst/>
            <a:rect r="r" b="b" t="t" l="l"/>
            <a:pathLst>
              <a:path h="2913069" w="4660910">
                <a:moveTo>
                  <a:pt x="0" y="0"/>
                </a:moveTo>
                <a:lnTo>
                  <a:pt x="4660910" y="0"/>
                </a:lnTo>
                <a:lnTo>
                  <a:pt x="4660910" y="2913068"/>
                </a:lnTo>
                <a:lnTo>
                  <a:pt x="0" y="291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8020" y="883491"/>
            <a:ext cx="16954500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0F3D66"/>
                </a:solidFill>
                <a:latin typeface="Roca Two"/>
                <a:ea typeface="Roca Two"/>
                <a:cs typeface="Roca Two"/>
                <a:sym typeface="Roca Two"/>
              </a:rPr>
              <a:t>Insights del análisis exploratorio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207778" y="3110584"/>
            <a:ext cx="4010025" cy="1772991"/>
            <a:chOff x="0" y="0"/>
            <a:chExt cx="5346700" cy="236398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Superficie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La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superficie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de las propiedades es un factor clave que determina su precio en el mercado. Explica más del 60% del precio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07778" y="5192544"/>
            <a:ext cx="4010025" cy="1772991"/>
            <a:chOff x="0" y="0"/>
            <a:chExt cx="5346700" cy="23639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Accesibilidad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Las regiones del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GBA Sur y Oeste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ofrecen opciones más accesibles (&lt; USD 1.000/m²), orientados a primera vivienda.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19662" y="3110584"/>
            <a:ext cx="4010025" cy="1772991"/>
            <a:chOff x="0" y="0"/>
            <a:chExt cx="5346700" cy="236398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Ubicación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Palermo, Recoleta y Tigre concentran los valores más altos (USD 3.000–4.000/m²).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19662" y="4981062"/>
            <a:ext cx="3543737" cy="2400152"/>
            <a:chOff x="0" y="0"/>
            <a:chExt cx="4724983" cy="320020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4724983" cy="4034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8"/>
                </a:lnSpc>
                <a:spcBef>
                  <a:spcPct val="0"/>
                </a:spcBef>
              </a:pPr>
              <a:r>
                <a:rPr lang="en-US" b="true" sz="1855" spc="18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Patrones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32931"/>
              <a:ext cx="4724983" cy="2567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26"/>
                </a:lnSpc>
                <a:spcBef>
                  <a:spcPct val="0"/>
                </a:spcBef>
              </a:pPr>
              <a:r>
                <a:rPr lang="en-US" sz="1590" spc="31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Los análisis revelan </a:t>
              </a:r>
              <a:r>
                <a:rPr lang="en-US" b="true" sz="1590" spc="3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patrones</a:t>
              </a:r>
              <a:r>
                <a:rPr lang="en-US" sz="1590" spc="31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en el mercado que ayudan a predecir tendencias y oportunidades futuras.</a:t>
              </a:r>
            </a:p>
            <a:p>
              <a:pPr algn="l" marL="0" indent="0" lvl="0">
                <a:lnSpc>
                  <a:spcPts val="2226"/>
                </a:lnSpc>
                <a:spcBef>
                  <a:spcPct val="0"/>
                </a:spcBef>
              </a:pPr>
              <a:r>
                <a:rPr lang="en-US" sz="1590" spc="31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Las cocheras y PH tienen alta dispersión de precios, reflejando heterogeneidad en la oferta.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93084" y="3114146"/>
            <a:ext cx="4010025" cy="1772991"/>
            <a:chOff x="0" y="0"/>
            <a:chExt cx="5346700" cy="236398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Proyección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GBA Norte (San Isidro, Vicente López) muestra mayor potencial de inversión por su crecimiento sostenido.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48020" y="1742207"/>
            <a:ext cx="169545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El EDA permitió identificar tendencias de valor según superficie, ubicación y tipo de propiedad, ofreciendo una visión de cómo se comporta el mercado entre CABA y GBA.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727516" y="3588242"/>
          <a:ext cx="10144125" cy="3714750"/>
        </p:xfrm>
        <a:graphic>
          <a:graphicData uri="http://schemas.openxmlformats.org/presentationml/2006/ole">
            <p:oleObj imgW="12166600" imgH="5740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455268" y="168257"/>
            <a:ext cx="13955571" cy="2665671"/>
            <a:chOff x="0" y="0"/>
            <a:chExt cx="18607428" cy="355422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42875"/>
              <a:ext cx="18607428" cy="2456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6"/>
                </a:lnSpc>
              </a:pPr>
              <a:r>
                <a:rPr lang="en-US" sz="6996">
                  <a:solidFill>
                    <a:srgbClr val="0F3D66"/>
                  </a:solidFill>
                  <a:latin typeface="Roca Two"/>
                  <a:ea typeface="Roca Two"/>
                  <a:cs typeface="Roca Two"/>
                  <a:sym typeface="Roca Two"/>
                </a:rPr>
                <a:t>Evaluación </a:t>
              </a:r>
              <a:r>
                <a:rPr lang="en-US" sz="6996">
                  <a:solidFill>
                    <a:srgbClr val="0F3D66"/>
                  </a:solidFill>
                  <a:latin typeface="Roca Two"/>
                  <a:ea typeface="Roca Two"/>
                  <a:cs typeface="Roca Two"/>
                  <a:sym typeface="Roca Two"/>
                </a:rPr>
                <a:t>de Modelos predictivos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759286"/>
              <a:ext cx="18607428" cy="794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1728" spc="17" b="true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Se probaron distintos algoritmos de regresión para comparar precisión, estabilidad y capacidad de generalización.</a:t>
              </a:r>
            </a:p>
            <a:p>
              <a:pPr algn="l" marL="0" indent="0" lvl="0">
                <a:lnSpc>
                  <a:spcPts val="2419"/>
                </a:lnSpc>
                <a:spcBef>
                  <a:spcPct val="0"/>
                </a:spcBef>
              </a:pPr>
              <a:r>
                <a:rPr lang="en-US" b="true" sz="1728" spc="17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El proceso incluyó ajustes de hiperparámetros mediante RandomizedSearchCV y GridSearchCV.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5268" y="8159115"/>
            <a:ext cx="1828800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Conclusión: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0F3D66"/>
                </a:solidFill>
                <a:latin typeface="Be Vietnam"/>
                <a:ea typeface="Be Vietnam"/>
                <a:cs typeface="Be Vietnam"/>
                <a:sym typeface="Be Vietnam"/>
              </a:rPr>
              <a:t> El RandomForestRegressor ajustado fue el modelo óptimo por su mejor trade-off entre performance, interpretabilidad y tiempo de entrenamiento.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906046" y="3148264"/>
            <a:ext cx="12592050" cy="19050"/>
          </a:xfrm>
          <a:prstGeom prst="line">
            <a:avLst/>
          </a:prstGeom>
          <a:ln cap="flat" w="28575">
            <a:solidFill>
              <a:srgbClr val="0F3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230874" y="5772855"/>
            <a:ext cx="3991252" cy="3968996"/>
          </a:xfrm>
          <a:custGeom>
            <a:avLst/>
            <a:gdLst/>
            <a:ahLst/>
            <a:cxnLst/>
            <a:rect r="r" b="b" t="t" l="l"/>
            <a:pathLst>
              <a:path h="3968996" w="3991252">
                <a:moveTo>
                  <a:pt x="0" y="0"/>
                </a:moveTo>
                <a:lnTo>
                  <a:pt x="3991253" y="0"/>
                </a:lnTo>
                <a:lnTo>
                  <a:pt x="3991253" y="3968997"/>
                </a:lnTo>
                <a:lnTo>
                  <a:pt x="0" y="396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4197351"/>
            <a:ext cx="4821882" cy="2718167"/>
          </a:xfrm>
          <a:custGeom>
            <a:avLst/>
            <a:gdLst/>
            <a:ahLst/>
            <a:cxnLst/>
            <a:rect r="r" b="b" t="t" l="l"/>
            <a:pathLst>
              <a:path h="2718167" w="4821882">
                <a:moveTo>
                  <a:pt x="0" y="0"/>
                </a:moveTo>
                <a:lnTo>
                  <a:pt x="4821882" y="0"/>
                </a:lnTo>
                <a:lnTo>
                  <a:pt x="4821882" y="2718167"/>
                </a:lnTo>
                <a:lnTo>
                  <a:pt x="0" y="2718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4800" y="554038"/>
            <a:ext cx="16954500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0F3D66"/>
                </a:solidFill>
                <a:latin typeface="Roca Two"/>
                <a:ea typeface="Roca Two"/>
                <a:cs typeface="Roca Two"/>
                <a:sym typeface="Roca Two"/>
              </a:rPr>
              <a:t>Insights del Modelo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06024" y="3504565"/>
            <a:ext cx="4010025" cy="1772991"/>
            <a:chOff x="0" y="0"/>
            <a:chExt cx="5346700" cy="236398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Desempeño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 modelo final alcanzó un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R² de 0.83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mostrando una excelente capacidad predictiva en los precios de propiedades.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06024" y="6561950"/>
            <a:ext cx="4010025" cy="1458666"/>
            <a:chOff x="0" y="0"/>
            <a:chExt cx="5346700" cy="194488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Rango de Error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10448"/>
              <a:ext cx="5346700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 modelo presentó un error bajo incluso en propiedades de hasta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500k USD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destacando su robustez.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20849" y="3504565"/>
            <a:ext cx="4010025" cy="1772991"/>
            <a:chOff x="0" y="0"/>
            <a:chExt cx="5346700" cy="236398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RMSE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 RMSE se sitúa en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73.5k USD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indicando un bajo error en la predicción de precios de propiedades.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20849" y="6561950"/>
            <a:ext cx="4010025" cy="1772991"/>
            <a:chOff x="0" y="0"/>
            <a:chExt cx="5346700" cy="236398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Propiedades Premium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Se identificó que el modelo tiende a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subestimar propiedades premium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, sugiriendo áreas para mejorar su precisión.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35674" y="3504565"/>
            <a:ext cx="4010025" cy="1772991"/>
            <a:chOff x="0" y="0"/>
            <a:chExt cx="5346700" cy="236398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53467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spc="21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Características Clave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10448"/>
              <a:ext cx="5346700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La </a:t>
              </a:r>
              <a:r>
                <a:rPr lang="en-US" b="true" sz="1800" spc="36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superficie y ubicación</a:t>
              </a:r>
              <a:r>
                <a:rPr lang="en-US" sz="1800" spc="36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resultaron ser las características más influyentes en las predicciones de precios.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4163" y="1636712"/>
            <a:ext cx="8275439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Desemp</a:t>
            </a: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eño e interpretación del modelo final (Random Forest)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83778" y="2136643"/>
            <a:ext cx="16396543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El modelo ajustado alcanzó una capacidad </a:t>
            </a:r>
            <a:r>
              <a:rPr lang="en-US" b="true" sz="2100" spc="21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explicativa del 83% de la varianza del precio, con un error medio de ±40.000 USD.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18">
                <a:solidFill>
                  <a:srgbClr val="0F3D6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El análisis de errores muestra que el modelo se desempeña muy bien en rangos medios, subestimando ligeramente propiedades premium.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AE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13435"/>
            <a:ext cx="12639675" cy="207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1"/>
              </a:lnSpc>
            </a:pPr>
            <a:r>
              <a:rPr lang="en-US" sz="8001">
                <a:solidFill>
                  <a:srgbClr val="0F3D66"/>
                </a:solidFill>
                <a:latin typeface="Roca Two"/>
                <a:ea typeface="Roca Two"/>
                <a:cs typeface="Roca Two"/>
                <a:sym typeface="Roca Two"/>
              </a:rPr>
              <a:t>Conclusiones de negocio y próximos pasos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63126" y="2791663"/>
            <a:ext cx="10474702" cy="5779436"/>
            <a:chOff x="0" y="0"/>
            <a:chExt cx="13966269" cy="770591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13966269" cy="413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1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87744"/>
              <a:ext cx="13966269" cy="7018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8"/>
                </a:lnSpc>
              </a:pPr>
              <a:r>
                <a:rPr lang="en-US" b="true" sz="2020" spc="20" u="none">
                  <a:solidFill>
                    <a:srgbClr val="0F3D66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Conclusiones de negocio:</a:t>
              </a:r>
            </a:p>
            <a:p>
              <a:pPr algn="l" marL="0" indent="0" lvl="0">
                <a:lnSpc>
                  <a:spcPts val="2828"/>
                </a:lnSpc>
              </a:pPr>
            </a:p>
            <a:p>
              <a:pPr algn="l" marL="436239" indent="-218119" lvl="1">
                <a:lnSpc>
                  <a:spcPts val="2828"/>
                </a:lnSpc>
                <a:buFont typeface="Arial"/>
                <a:buChar char="•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El modelo ofrece tasaciones automáticas confiables en un rango de ±10–15%.</a:t>
              </a:r>
            </a:p>
            <a:p>
              <a:pPr algn="l" marL="436239" indent="-218119" lvl="1">
                <a:lnSpc>
                  <a:spcPts val="2828"/>
                </a:lnSpc>
                <a:buFont typeface="Arial"/>
                <a:buChar char="•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CABA Norte y GBA Norte concentran las zonas más valiosas y con mayor retorno potencial.</a:t>
              </a:r>
            </a:p>
            <a:p>
              <a:pPr algn="l" marL="436239" indent="-218119" lvl="1">
                <a:lnSpc>
                  <a:spcPts val="2828"/>
                </a:lnSpc>
                <a:buFont typeface="Arial"/>
                <a:buChar char="•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GBA Sur y Oeste muestran oportunidades de inversión para desarrollos de vivienda media.</a:t>
              </a:r>
            </a:p>
            <a:p>
              <a:pPr algn="l" marL="436239" indent="-218119" lvl="1">
                <a:lnSpc>
                  <a:spcPts val="2828"/>
                </a:lnSpc>
                <a:buFont typeface="Arial"/>
                <a:buChar char="•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La superficie cubierta y ubicación geográfica son los factores más determinantes del valor.</a:t>
              </a:r>
            </a:p>
            <a:p>
              <a:pPr algn="l">
                <a:lnSpc>
                  <a:spcPts val="2828"/>
                </a:lnSpc>
              </a:pPr>
            </a:p>
            <a:p>
              <a:pPr algn="l" marL="0" indent="0" lvl="0">
                <a:lnSpc>
                  <a:spcPts val="2828"/>
                </a:lnSpc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Próximos pasos técnicos:</a:t>
              </a:r>
            </a:p>
            <a:p>
              <a:pPr algn="l" marL="436239" indent="-218119" lvl="1">
                <a:lnSpc>
                  <a:spcPts val="2828"/>
                </a:lnSpc>
                <a:buAutoNum type="arabicPeriod" startAt="1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Integrar variables externas: transporte, índice socioeconómico, distancia a puntos de interés.</a:t>
              </a:r>
            </a:p>
            <a:p>
              <a:pPr algn="l" marL="436239" indent="-218119" lvl="1">
                <a:lnSpc>
                  <a:spcPts val="2828"/>
                </a:lnSpc>
                <a:buAutoNum type="arabicPeriod" startAt="1"/>
              </a:pPr>
              <a:r>
                <a:rPr lang="en-US" sz="2020" spc="20" u="none">
                  <a:solidFill>
                    <a:srgbClr val="0F3D66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Evaluar modelos avanzados (LightGBM / CatBoost) para mayor precisión.</a:t>
              </a:r>
            </a:p>
            <a:p>
              <a:pPr algn="l" marL="0" indent="0" lvl="0">
                <a:lnSpc>
                  <a:spcPts val="282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Predicción de precios de propiedades en Argentina — Proyecto Final</dc:description>
  <dc:identifier>DAG4aIz39kI</dc:identifier>
  <dcterms:modified xsi:type="dcterms:W3CDTF">2011-08-01T06:04:30Z</dcterms:modified>
  <cp:revision>1</cp:revision>
  <dc:title>Presentación - Predicción de precios de propiedades en Argentina — Proyecto Final</dc:title>
</cp:coreProperties>
</file>